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7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3A"/>
          </a:solidFill>
          <a:ln>
            <a:solidFill>
              <a:srgbClr val="0C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548640"/>
            <a:ext cx="2560320" cy="146304"/>
          </a:xfrm>
          <a:prstGeom prst="rect">
            <a:avLst/>
          </a:prstGeom>
          <a:solidFill>
            <a:srgbClr val="49BED7"/>
          </a:solidFill>
          <a:ln>
            <a:solidFill>
              <a:srgbClr val="4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12480" y="914400"/>
            <a:ext cx="1737360" cy="14630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0" y="5897880"/>
            <a:ext cx="2926080" cy="146304"/>
          </a:xfrm>
          <a:prstGeom prst="rect">
            <a:avLst/>
          </a:prstGeom>
          <a:solidFill>
            <a:srgbClr val="49BED7"/>
          </a:solidFill>
          <a:ln>
            <a:solidFill>
              <a:srgbClr val="4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18320" y="5440680"/>
            <a:ext cx="1920240" cy="14630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6583680" cy="1554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  <a:latin typeface="Aptos"/>
              </a:rPr>
              <a:t>Права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и
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обязанности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граждан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
в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области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защиты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от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ЧС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86200"/>
            <a:ext cx="585216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0" dirty="0" err="1">
                <a:solidFill>
                  <a:srgbClr val="D2E7EF"/>
                </a:solidFill>
                <a:latin typeface="Aptos"/>
              </a:rPr>
              <a:t>Гражданская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оборона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: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задачи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сигналы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оповещения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 и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личная</a:t>
            </a:r>
            <a:r>
              <a:rPr sz="1500" b="0" dirty="0">
                <a:solidFill>
                  <a:srgbClr val="D2E7EF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D2E7EF"/>
                </a:solidFill>
                <a:latin typeface="Aptos"/>
              </a:rPr>
              <a:t>безопасность</a:t>
            </a:r>
            <a:endParaRPr sz="1500" b="0" dirty="0">
              <a:solidFill>
                <a:srgbClr val="D2E7E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177DAA"/>
                </a:solidFill>
                <a:latin typeface="Aptos"/>
              </a:rPr>
              <a:t>01</a:t>
            </a: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C9631460-FC50-4D9F-E555-7A07573D9E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BC1B2A-2DC7-35C7-70B7-15B5B015868F}"/>
              </a:ext>
            </a:extLst>
          </p:cNvPr>
          <p:cNvSpPr txBox="1"/>
          <p:nvPr/>
        </p:nvSpPr>
        <p:spPr>
          <a:xfrm>
            <a:off x="8461248" y="1467076"/>
            <a:ext cx="2926080" cy="195745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lang="ru-RU" sz="3000" b="1" dirty="0">
                <a:solidFill>
                  <a:srgbClr val="FFFFFF"/>
                </a:solidFill>
                <a:latin typeface="Aptos"/>
              </a:rPr>
              <a:t>Плотников</a:t>
            </a:r>
            <a:br>
              <a:rPr lang="ru-RU" sz="3000" b="1" dirty="0">
                <a:solidFill>
                  <a:srgbClr val="FFFFFF"/>
                </a:solidFill>
                <a:latin typeface="Aptos"/>
              </a:rPr>
            </a:br>
            <a:r>
              <a:rPr lang="ru-RU" sz="3000" b="1" dirty="0">
                <a:solidFill>
                  <a:srgbClr val="FFFFFF"/>
                </a:solidFill>
                <a:latin typeface="Aptos"/>
              </a:rPr>
              <a:t>Вячеслав</a:t>
            </a:r>
            <a:br>
              <a:rPr lang="ru-RU" sz="3000" b="1" dirty="0">
                <a:solidFill>
                  <a:srgbClr val="FFFFFF"/>
                </a:solidFill>
                <a:latin typeface="Aptos"/>
              </a:rPr>
            </a:br>
            <a:r>
              <a:rPr lang="ru-RU" sz="3000" b="1" dirty="0">
                <a:solidFill>
                  <a:srgbClr val="FFFFFF"/>
                </a:solidFill>
                <a:latin typeface="Aptos"/>
              </a:rPr>
              <a:t>Станиславович</a:t>
            </a:r>
            <a:br>
              <a:rPr lang="ru-RU" sz="3000" b="1" dirty="0">
                <a:solidFill>
                  <a:srgbClr val="FFFFFF"/>
                </a:solidFill>
                <a:latin typeface="Aptos"/>
              </a:rPr>
            </a:br>
            <a:r>
              <a:rPr lang="ru-RU" sz="3000" b="1" dirty="0">
                <a:solidFill>
                  <a:srgbClr val="FFFFFF"/>
                </a:solidFill>
                <a:latin typeface="Aptos"/>
              </a:rPr>
              <a:t>108М</a:t>
            </a:r>
            <a:endParaRPr sz="30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Почему эта тема важна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Чрезвычайная ситуация меняет привычный порядок действий за минуты.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2514600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6151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4612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0C233A"/>
                </a:solidFill>
                <a:latin typeface="Aptos"/>
              </a:rPr>
              <a:t>Риск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5F6E78"/>
                </a:solidFill>
                <a:latin typeface="Aptos"/>
              </a:rPr>
              <a:t>опасность может возникнуть внезапно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4028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36592" y="2514600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6151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24612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0C233A"/>
                </a:solidFill>
                <a:latin typeface="Aptos"/>
              </a:rPr>
              <a:t>Решение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70332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5F6E78"/>
                </a:solidFill>
                <a:latin typeface="Aptos"/>
              </a:rPr>
              <a:t>первые действия снижают ущерб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240280"/>
            <a:ext cx="3337560" cy="2148840"/>
          </a:xfrm>
          <a:prstGeom prst="roundRect">
            <a:avLst>
              <a:gd name="adj" fmla="val 12000"/>
            </a:avLst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31352" y="2514600"/>
            <a:ext cx="566928" cy="566928"/>
          </a:xfrm>
          <a:prstGeom prst="ellipse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26151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24612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0C233A"/>
                </a:solidFill>
                <a:latin typeface="Aptos"/>
              </a:rPr>
              <a:t>Ответственность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70332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>
                <a:solidFill>
                  <a:srgbClr val="5F6E78"/>
                </a:solidFill>
                <a:latin typeface="Aptos"/>
              </a:rPr>
              <a:t>безопасность — общая задача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100" b="1">
                <a:solidFill>
                  <a:srgbClr val="0C233A"/>
                </a:solidFill>
                <a:latin typeface="Aptos"/>
              </a:rPr>
              <a:t>Знать алгоритм  →  сохранять спокойствие  →  помогать себе и окружающим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100" b="1">
                <a:solidFill>
                  <a:srgbClr val="49BED7"/>
                </a:solidFill>
                <a:latin typeface="Aptos"/>
              </a:rPr>
              <a:t>02  |  ПОНЯТИЯ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Что такое чрезвычайная ситуация?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Обстановка, которая нарушает нормальную жизнедеятельность людей и требует специальных мер.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4572000" cy="3154680"/>
          </a:xfrm>
          <a:prstGeom prst="roundRect">
            <a:avLst>
              <a:gd name="adj" fmla="val 12000"/>
            </a:avLst>
          </a:prstGeom>
          <a:solidFill>
            <a:srgbClr val="0C233A"/>
          </a:solidFill>
          <a:ln>
            <a:solidFill>
              <a:srgbClr val="0C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49BED7"/>
                </a:solidFill>
                <a:latin typeface="Aptos"/>
              </a:rPr>
              <a:t>ЧС — это сочетание трёх признаков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063240"/>
            <a:ext cx="566928" cy="566928"/>
          </a:xfrm>
          <a:prstGeom prst="ellipse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6382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8211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Угроза жизни и здоровью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749039"/>
            <a:ext cx="566928" cy="566928"/>
          </a:xfrm>
          <a:prstGeom prst="ellipse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962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6791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Нарушение работы систем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434840"/>
            <a:ext cx="566928" cy="566928"/>
          </a:xfrm>
          <a:prstGeom prst="ellipse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53542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55371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Необходимость реагирования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057400"/>
            <a:ext cx="54864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C233A"/>
                </a:solidFill>
                <a:latin typeface="Aptos"/>
              </a:rPr>
              <a:t>Классификация по источнику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60604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60720" y="2606040"/>
            <a:ext cx="109728" cy="658368"/>
          </a:xfrm>
          <a:prstGeom prst="roundRect">
            <a:avLst>
              <a:gd name="adj" fmla="val 12000"/>
            </a:avLst>
          </a:prstGeom>
          <a:solidFill>
            <a:srgbClr val="49BED7"/>
          </a:solidFill>
          <a:ln>
            <a:solidFill>
              <a:srgbClr val="4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271576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0C233A"/>
                </a:solidFill>
                <a:latin typeface="Aptos"/>
              </a:rPr>
              <a:t>Природные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71576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пожар, наводнение, ураган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352044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60720" y="3520440"/>
            <a:ext cx="109728" cy="658368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363016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0C233A"/>
                </a:solidFill>
                <a:latin typeface="Aptos"/>
              </a:rPr>
              <a:t>Техногенные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63016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авария, выброс, обрушение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4434840"/>
            <a:ext cx="53035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60720" y="4434840"/>
            <a:ext cx="109728" cy="658368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454456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0C233A"/>
                </a:solidFill>
                <a:latin typeface="Aptos"/>
              </a:rPr>
              <a:t>Биолого-социальные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54456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эпидемия, массовые угрозы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00" b="1">
                <a:solidFill>
                  <a:srgbClr val="5F6E78"/>
                </a:solidFill>
                <a:latin typeface="Aptos"/>
              </a:rPr>
              <a:t>ГРАЖДАНСКАЯ ОБОРОНА  /  ОСНОВЫ БЕЗОПАСНОСТИ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177DA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Что имеет право гражданин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Государство обязано информировать и защищать, а гражданин — знать порядок действий.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148840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03704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Получать информацию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32888"/>
            <a:ext cx="33832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о рисках, сигналах и мерах защиты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72968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2783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Обращаться за помощью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57016"/>
            <a:ext cx="33832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в органы власти и спасательные службы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97096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51959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Использовать защиту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81144"/>
            <a:ext cx="33832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укрытия, эвакуацию, медицинскую помощь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5740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0C233A"/>
          </a:solidFill>
          <a:ln>
            <a:solidFill>
              <a:srgbClr val="0C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423160"/>
            <a:ext cx="4297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600" b="1">
                <a:solidFill>
                  <a:srgbClr val="49BED7"/>
                </a:solidFill>
                <a:latin typeface="Aptos"/>
              </a:rPr>
              <a:t>Зона ответственности гражданина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06324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999232"/>
            <a:ext cx="3749039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Соблюдать правила безопасности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776472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712463"/>
            <a:ext cx="3749039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Выполнять законные требования служб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489704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425696"/>
            <a:ext cx="3749039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Оказывать посильную помощь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Первые действия при угрозе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Универсальная последовательность, которая помогает не растеряться.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0C233A"/>
          </a:solidFill>
          <a:ln>
            <a:solidFill>
              <a:srgbClr val="0C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0116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Остановись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сохрани спокойствие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24028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2514600"/>
            <a:ext cx="20116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063240"/>
            <a:ext cx="2011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Оцени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566160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что случилось и где опасность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24028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2514600"/>
            <a:ext cx="20116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63240"/>
            <a:ext cx="2011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Сообщи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566160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112 или официальным службам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224028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49BED7"/>
          </a:solidFill>
          <a:ln>
            <a:solidFill>
              <a:srgbClr val="4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3456" y="2514600"/>
            <a:ext cx="20116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3063240"/>
            <a:ext cx="2011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Действуй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3566160"/>
            <a:ext cx="19202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по инструкции и помогай рядом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6984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200" b="1">
                <a:solidFill>
                  <a:srgbClr val="0C233A"/>
                </a:solidFill>
                <a:latin typeface="Aptos"/>
              </a:rPr>
              <a:t>Телефон единой службы спасения: 112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A"/>
          </a:solidFill>
          <a:ln>
            <a:solidFill>
              <a:srgbClr val="EB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Эвакуация без паники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Главное — двигаться организованно, брать необходимое и не возвращаться за вещами.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560320"/>
            <a:ext cx="566928" cy="566928"/>
          </a:xfrm>
          <a:prstGeom prst="ellipse">
            <a:avLst/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60903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C233A"/>
                </a:solidFill>
                <a:latin typeface="Aptos"/>
              </a:rPr>
              <a:t>Возьми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7432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документы • воду • лекарства • телефон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2860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59" y="2560320"/>
            <a:ext cx="566928" cy="566928"/>
          </a:xfrm>
          <a:prstGeom prst="ellipse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2660903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31012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C233A"/>
                </a:solidFill>
                <a:latin typeface="Aptos"/>
              </a:rPr>
              <a:t>Двигайся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794760"/>
            <a:ext cx="27432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по обозначенному маршруту • вместе с группой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33375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8200" y="2560320"/>
            <a:ext cx="566928" cy="566928"/>
          </a:xfrm>
          <a:prstGeom prst="ellipse">
            <a:avLst/>
          </a:prstGeom>
          <a:solidFill>
            <a:srgbClr val="49BED7"/>
          </a:solidFill>
          <a:ln>
            <a:solidFill>
              <a:srgbClr val="4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660903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1012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0C233A"/>
                </a:solidFill>
                <a:latin typeface="Aptos"/>
              </a:rPr>
              <a:t>Помоги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27432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детям • пожилым • людям с ограниченной мобильностью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10744200" cy="457200"/>
          </a:xfrm>
          <a:prstGeom prst="roundRect">
            <a:avLst>
              <a:gd name="adj" fmla="val 12000"/>
            </a:avLst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285232"/>
            <a:ext cx="1037844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Не пользуйся лифтом при пожаре и задымлении.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700" b="1">
                <a:solidFill>
                  <a:srgbClr val="0C233A"/>
                </a:solidFill>
                <a:latin typeface="Aptos"/>
              </a:rPr>
              <a:t>Личная готовность: чек-лист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78992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5F6E78"/>
                </a:solidFill>
                <a:latin typeface="Aptos"/>
              </a:rPr>
              <a:t>Подготовка занимает немного времени, но даёт уверенность в критический момент.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51560" cy="54864"/>
          </a:xfrm>
          <a:prstGeom prst="rect">
            <a:avLst/>
          </a:prstGeom>
          <a:solidFill>
            <a:srgbClr val="F59141"/>
          </a:solidFill>
          <a:ln>
            <a:solidFill>
              <a:srgbClr val="F5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76272"/>
            <a:ext cx="89611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Знаю номер 112 и адрес ближайшего укрытия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52344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77063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79776"/>
            <a:ext cx="89611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Подписал контакты близких и лекарства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55848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37413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83279"/>
            <a:ext cx="89611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Понимаю сигналы оповещения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59352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977639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86784"/>
            <a:ext cx="89611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Знаю два пути выхода из здания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62856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177DAA"/>
          </a:solidFill>
          <a:ln>
            <a:solidFill>
              <a:srgbClr val="17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458114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90288"/>
            <a:ext cx="896112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0C233A"/>
                </a:solidFill>
                <a:latin typeface="Aptos"/>
              </a:rPr>
              <a:t>Могу объяснить алгоритм младшему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194560"/>
            <a:ext cx="1554480" cy="2651760"/>
          </a:xfrm>
          <a:prstGeom prst="roundRect">
            <a:avLst>
              <a:gd name="adj" fmla="val 12000"/>
            </a:avLst>
          </a:prstGeom>
          <a:solidFill>
            <a:srgbClr val="0C233A"/>
          </a:solidFill>
          <a:ln>
            <a:solidFill>
              <a:srgbClr val="0C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2560320"/>
            <a:ext cx="11887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500" b="1">
                <a:solidFill>
                  <a:srgbClr val="49BED7"/>
                </a:solidFill>
                <a:latin typeface="Aptos"/>
              </a:rPr>
              <a:t>ГОТОВ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063240"/>
            <a:ext cx="1188720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5 /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251960"/>
            <a:ext cx="1280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0">
                <a:solidFill>
                  <a:srgbClr val="CDE1E8"/>
                </a:solidFill>
                <a:latin typeface="Aptos"/>
              </a:rPr>
              <a:t>пунктов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338</Words>
  <Application>Microsoft Office PowerPoint</Application>
  <PresentationFormat>Широкоэкранный</PresentationFormat>
  <Paragraphs>92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my.funpay.prazdnik554@gmail.com</cp:lastModifiedBy>
  <cp:revision>2</cp:revision>
  <dcterms:created xsi:type="dcterms:W3CDTF">2013-01-27T09:14:16Z</dcterms:created>
  <dcterms:modified xsi:type="dcterms:W3CDTF">2026-09-28T03:56:45Z</dcterms:modified>
  <cp:category/>
</cp:coreProperties>
</file>